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  <p:sldMasterId id="214748368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Assistant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ssistan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Assistant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fc78e8079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7fc78e8079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fc78e8079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7fc78e8079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fc78e8079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7fc78e8079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0950d465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80950d465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0950d465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80950d465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0950d465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80950d465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0950d465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80950d465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0950d465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80950d465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0950d465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80950d465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0950d465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80950d465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80950d465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80950d465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0950d465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80950d465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6400750" y="2400375"/>
            <a:ext cx="2743242" cy="2743120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3" name="Google Shape;63;p14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b="1" i="0" sz="10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8414775" y="4244650"/>
            <a:ext cx="418647" cy="418572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65" name="Google Shape;65;p14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14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67" name="Google Shape;67;p14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8" name="Google Shape;68;p14"/>
            <p:cNvPicPr preferRelativeResize="0"/>
            <p:nvPr/>
          </p:nvPicPr>
          <p:blipFill rotWithShape="1">
            <a:blip r:embed="rId2">
              <a:alphaModFix/>
            </a:blip>
            <a:srcRect b="0" l="377" r="387" t="0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x">
  <p:cSld name="TITLE_AND_BOD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 type="secHead">
  <p:cSld name="SECTION_HEADER">
    <p:bg>
      <p:bgPr>
        <a:noFill/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and contac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9" name="Google Shape;79;p17"/>
          <p:cNvGrpSpPr/>
          <p:nvPr/>
        </p:nvGrpSpPr>
        <p:grpSpPr>
          <a:xfrm rot="2700000">
            <a:off x="585684" y="481416"/>
            <a:ext cx="694882" cy="564848"/>
            <a:chOff x="919500" y="1916075"/>
            <a:chExt cx="1067700" cy="867900"/>
          </a:xfrm>
        </p:grpSpPr>
        <p:sp>
          <p:nvSpPr>
            <p:cNvPr id="80" name="Google Shape;80;p17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7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" name="Google Shape;82;p17"/>
          <p:cNvGrpSpPr/>
          <p:nvPr/>
        </p:nvGrpSpPr>
        <p:grpSpPr>
          <a:xfrm rot="8100000">
            <a:off x="7746889" y="3437647"/>
            <a:ext cx="912919" cy="742084"/>
            <a:chOff x="521400" y="3135325"/>
            <a:chExt cx="1067700" cy="867900"/>
          </a:xfrm>
        </p:grpSpPr>
        <p:sp>
          <p:nvSpPr>
            <p:cNvPr id="83" name="Google Shape;83;p17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7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bg>
      <p:bgPr>
        <a:noFill/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1" type="subTitle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7" name="Google Shape;97;p19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98" name="Google Shape;98;p19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" name="Google Shape;99;p19"/>
            <p:cNvPicPr preferRelativeResize="0"/>
            <p:nvPr/>
          </p:nvPicPr>
          <p:blipFill rotWithShape="1">
            <a:blip r:embed="rId2">
              <a:alphaModFix/>
            </a:blip>
            <a:srcRect b="0" l="377" r="387" t="0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0" name="Google Shape;100;p19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6400750" y="2400375"/>
            <a:ext cx="2743242" cy="2743120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6" name="Google Shape;106;p19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b="1" i="0" sz="10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8414775" y="4244650"/>
            <a:ext cx="418647" cy="418572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Title and body slide style 2</a:t>
            </a:r>
            <a:endParaRPr b="1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915600"/>
            <a:ext cx="77538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Placeholder text. Lorem ipsum dolor sit amet, consectetur adipiscing elit, sed do eiusmod tempor incididunt ut labore et dolore magna aliqua.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item 1 lorem ipsum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item 2 consectetur adipiscing elit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item 3 lorem ipsum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 item 4 consectetur adipiscing elit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 txBox="1"/>
          <p:nvPr>
            <p:ph idx="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3" name="Google Shape;113;p20"/>
          <p:cNvGrpSpPr/>
          <p:nvPr/>
        </p:nvGrpSpPr>
        <p:grpSpPr>
          <a:xfrm>
            <a:off x="311663" y="3944676"/>
            <a:ext cx="718489" cy="718487"/>
            <a:chOff x="3717325" y="2137000"/>
            <a:chExt cx="1104178" cy="1104176"/>
          </a:xfrm>
        </p:grpSpPr>
        <p:sp>
          <p:nvSpPr>
            <p:cNvPr id="114" name="Google Shape;114;p20"/>
            <p:cNvSpPr/>
            <p:nvPr/>
          </p:nvSpPr>
          <p:spPr>
            <a:xfrm>
              <a:off x="3717325" y="2238576"/>
              <a:ext cx="1002600" cy="1002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0"/>
            <p:cNvSpPr/>
            <p:nvPr/>
          </p:nvSpPr>
          <p:spPr>
            <a:xfrm>
              <a:off x="3818903" y="213700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20"/>
          <p:cNvGrpSpPr/>
          <p:nvPr/>
        </p:nvGrpSpPr>
        <p:grpSpPr>
          <a:xfrm rot="10800000">
            <a:off x="7728125" y="1414735"/>
            <a:ext cx="1104178" cy="1104176"/>
            <a:chOff x="4185575" y="3320360"/>
            <a:chExt cx="1104178" cy="1104176"/>
          </a:xfrm>
        </p:grpSpPr>
        <p:sp>
          <p:nvSpPr>
            <p:cNvPr id="117" name="Google Shape;117;p20"/>
            <p:cNvSpPr/>
            <p:nvPr/>
          </p:nvSpPr>
          <p:spPr>
            <a:xfrm>
              <a:off x="4185575" y="3421936"/>
              <a:ext cx="1002600" cy="100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0"/>
            <p:cNvSpPr/>
            <p:nvPr/>
          </p:nvSpPr>
          <p:spPr>
            <a:xfrm>
              <a:off x="4287153" y="332036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bg>
      <p:bgPr>
        <a:noFill/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1" name="Google Shape;141;p2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24"/>
          <p:cNvSpPr txBox="1"/>
          <p:nvPr>
            <p:ph idx="2" type="body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5"/>
          <p:cNvSpPr txBox="1"/>
          <p:nvPr>
            <p:ph idx="2" type="body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2" name="Google Shape;152;p25"/>
          <p:cNvSpPr txBox="1"/>
          <p:nvPr>
            <p:ph idx="3" type="body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166" name="Google Shape;166;p29"/>
          <p:cNvSpPr txBox="1"/>
          <p:nvPr>
            <p:ph idx="1" type="subTitle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7" name="Google Shape;167;p29"/>
          <p:cNvSpPr txBox="1"/>
          <p:nvPr>
            <p:ph idx="2" type="body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2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/>
        </p:txBody>
      </p:sp>
      <p:sp>
        <p:nvSpPr>
          <p:cNvPr id="171" name="Google Shape;171;p3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hasCustomPrompt="1" type="title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5" name="Google Shape;175;p3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_NUMBER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3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2"/>
          <p:cNvSpPr txBox="1"/>
          <p:nvPr>
            <p:ph idx="2" type="title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81" name="Google Shape;181;p32"/>
          <p:cNvSpPr txBox="1"/>
          <p:nvPr>
            <p:ph idx="3" type="body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32"/>
          <p:cNvSpPr txBox="1"/>
          <p:nvPr>
            <p:ph idx="4" type="title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83" name="Google Shape;183;p32"/>
          <p:cNvSpPr txBox="1"/>
          <p:nvPr>
            <p:ph idx="5" type="body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9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b="1" i="0" sz="2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b="0" i="0" sz="1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4" name="Google Shape;54;p13"/>
          <p:cNvGrpSpPr/>
          <p:nvPr/>
        </p:nvGrpSpPr>
        <p:grpSpPr>
          <a:xfrm>
            <a:off x="8458848" y="343116"/>
            <a:ext cx="381300" cy="576000"/>
            <a:chOff x="8458848" y="343116"/>
            <a:chExt cx="381300" cy="576000"/>
          </a:xfrm>
        </p:grpSpPr>
        <p:sp>
          <p:nvSpPr>
            <p:cNvPr id="55" name="Google Shape;55;p13"/>
            <p:cNvSpPr/>
            <p:nvPr/>
          </p:nvSpPr>
          <p:spPr>
            <a:xfrm>
              <a:off x="8458848" y="343116"/>
              <a:ext cx="381300" cy="57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" name="Google Shape;56;p13"/>
            <p:cNvPicPr preferRelativeResize="0"/>
            <p:nvPr/>
          </p:nvPicPr>
          <p:blipFill rotWithShape="1">
            <a:blip r:embed="rId1">
              <a:alphaModFix/>
            </a:blip>
            <a:srcRect b="0" l="79" r="79" t="0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tailwindcss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ailwindcss.com/docs/width" TargetMode="External"/><Relationship Id="rId4" Type="http://schemas.openxmlformats.org/officeDocument/2006/relationships/hyperlink" Target="https://tailwindcss.com/docs/heigh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tailwindcss.com/docs/width" TargetMode="External"/><Relationship Id="rId4" Type="http://schemas.openxmlformats.org/officeDocument/2006/relationships/hyperlink" Target="https://tailwindcss.com/docs/heigh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ailwindcss.com/docs/colors" TargetMode="External"/><Relationship Id="rId4" Type="http://schemas.openxmlformats.org/officeDocument/2006/relationships/hyperlink" Target="https://coolors.co/contrast-checker/112a46-acc8e5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tailwindcss.com/docs/padding" TargetMode="External"/><Relationship Id="rId4" Type="http://schemas.openxmlformats.org/officeDocument/2006/relationships/hyperlink" Target="https://tailwindcss.com/docs/margin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hyperlink" Target="https://tailwindcss.com/docs/responsive-design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v3.tailwindcss.com/docs/configuration" TargetMode="External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lay.tailwindcss.com/" TargetMode="External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v3.tailwindcss.com/docs/functions-and-directives" TargetMode="External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arketplace.visualstudio.com/items?itemName=bradlc.vscode-tailwindcss" TargetMode="External"/><Relationship Id="rId4" Type="http://schemas.openxmlformats.org/officeDocument/2006/relationships/hyperlink" Target="https://marketplace.visualstudio.com/items?itemName=stivo.tailwind-fold" TargetMode="External"/><Relationship Id="rId5" Type="http://schemas.openxmlformats.org/officeDocument/2006/relationships/hyperlink" Target="https://marketplace.visualstudio.com/items?itemName=austenc.tailwind-docs" TargetMode="External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Tailwind CSS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Tailwind CSS?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915600"/>
            <a:ext cx="74226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Tailwind CSS is a utility-first CSS framework designed to enable rapid and consistent development. Instead of writing custom CSS, you use pre-defined utility classes to style elements directly in your HTML or JSX.</a:t>
            </a:r>
            <a:endParaRPr sz="12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/>
          </a:p>
        </p:txBody>
      </p:sp>
      <p:sp>
        <p:nvSpPr>
          <p:cNvPr id="198" name="Google Shape;198;p3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99" name="Google Shape;199;p35"/>
          <p:cNvGrpSpPr/>
          <p:nvPr/>
        </p:nvGrpSpPr>
        <p:grpSpPr>
          <a:xfrm>
            <a:off x="311663" y="3944676"/>
            <a:ext cx="718489" cy="718487"/>
            <a:chOff x="3717325" y="2137000"/>
            <a:chExt cx="1104178" cy="1104176"/>
          </a:xfrm>
        </p:grpSpPr>
        <p:sp>
          <p:nvSpPr>
            <p:cNvPr id="200" name="Google Shape;200;p35"/>
            <p:cNvSpPr/>
            <p:nvPr/>
          </p:nvSpPr>
          <p:spPr>
            <a:xfrm>
              <a:off x="3717325" y="2238576"/>
              <a:ext cx="1002600" cy="1002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5"/>
            <p:cNvSpPr/>
            <p:nvPr/>
          </p:nvSpPr>
          <p:spPr>
            <a:xfrm>
              <a:off x="3818903" y="213700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35"/>
          <p:cNvGrpSpPr/>
          <p:nvPr/>
        </p:nvGrpSpPr>
        <p:grpSpPr>
          <a:xfrm rot="10800000">
            <a:off x="7993058" y="1271210"/>
            <a:ext cx="1017721" cy="995635"/>
            <a:chOff x="4185575" y="3320360"/>
            <a:chExt cx="1104178" cy="1104176"/>
          </a:xfrm>
        </p:grpSpPr>
        <p:sp>
          <p:nvSpPr>
            <p:cNvPr id="203" name="Google Shape;203;p35"/>
            <p:cNvSpPr/>
            <p:nvPr/>
          </p:nvSpPr>
          <p:spPr>
            <a:xfrm>
              <a:off x="4185575" y="3421936"/>
              <a:ext cx="1002600" cy="100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5"/>
            <p:cNvSpPr/>
            <p:nvPr/>
          </p:nvSpPr>
          <p:spPr>
            <a:xfrm>
              <a:off x="4287153" y="332036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" name="Google Shape;205;p35"/>
          <p:cNvSpPr txBox="1"/>
          <p:nvPr/>
        </p:nvSpPr>
        <p:spPr>
          <a:xfrm>
            <a:off x="311700" y="1607475"/>
            <a:ext cx="72582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1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Why use Tailwind?</a:t>
            </a:r>
            <a:endParaRPr b="1" sz="2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414425" y="2430150"/>
            <a:ext cx="74226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-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Utility first approach</a:t>
            </a:r>
            <a:endParaRPr sz="12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-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Highly Customizable</a:t>
            </a:r>
            <a:endParaRPr sz="12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-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Speed &amp; Efficiency</a:t>
            </a:r>
            <a:endParaRPr sz="12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-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Consistent Design System</a:t>
            </a:r>
            <a:endParaRPr sz="12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-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Built-in support for Mobile First</a:t>
            </a:r>
            <a:endParaRPr sz="12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-"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Responsive Design</a:t>
            </a:r>
            <a:endParaRPr sz="12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	</a:t>
            </a: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Tailwind CSS Docs</a:t>
            </a:r>
            <a:endParaRPr sz="1200" u="sng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Sizing</a:t>
            </a:r>
            <a:endParaRPr/>
          </a:p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11700" y="915600"/>
            <a:ext cx="7023900" cy="3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/>
              <a:t>Syntax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class=”w-{value}”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class=”h-{value}”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600"/>
              <a:t>Fixed units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1 unit = 0.25 rem = 4px (default browser settings)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</a:t>
            </a:r>
            <a:r>
              <a:rPr lang="en" sz="1600"/>
              <a:t>-1  = width: 0.25rem;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w-2  = width: 0.5rem;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</a:t>
            </a:r>
            <a:r>
              <a:rPr lang="en" sz="1600"/>
              <a:t>-96  = width: 24rem;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Tailwind CSS: Width</a:t>
            </a:r>
            <a:r>
              <a:rPr lang="en" sz="1600"/>
              <a:t>                                      </a:t>
            </a:r>
            <a:r>
              <a:rPr lang="en" sz="16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Tailwind CSS: Height</a:t>
            </a:r>
            <a:endParaRPr sz="1600"/>
          </a:p>
        </p:txBody>
      </p:sp>
      <p:sp>
        <p:nvSpPr>
          <p:cNvPr id="213" name="Google Shape;213;p3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4" name="Google Shape;214;p36"/>
          <p:cNvGrpSpPr/>
          <p:nvPr/>
        </p:nvGrpSpPr>
        <p:grpSpPr>
          <a:xfrm rot="10800000">
            <a:off x="7557850" y="1607810"/>
            <a:ext cx="1104178" cy="1104176"/>
            <a:chOff x="4185575" y="3320360"/>
            <a:chExt cx="1104178" cy="1104176"/>
          </a:xfrm>
        </p:grpSpPr>
        <p:sp>
          <p:nvSpPr>
            <p:cNvPr id="215" name="Google Shape;215;p36"/>
            <p:cNvSpPr/>
            <p:nvPr/>
          </p:nvSpPr>
          <p:spPr>
            <a:xfrm>
              <a:off x="4185575" y="3421936"/>
              <a:ext cx="1002600" cy="100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6"/>
            <p:cNvSpPr/>
            <p:nvPr/>
          </p:nvSpPr>
          <p:spPr>
            <a:xfrm>
              <a:off x="4287153" y="332036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Relative &amp; Viewport Units</a:t>
            </a:r>
            <a:endParaRPr/>
          </a:p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311700" y="915600"/>
            <a:ext cx="7023900" cy="3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/>
              <a:t>Relative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w-</a:t>
            </a:r>
            <a:r>
              <a:rPr lang="en" sz="1600"/>
              <a:t>1/2</a:t>
            </a:r>
            <a:r>
              <a:rPr lang="en" sz="1600"/>
              <a:t>  - width: 50%;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</a:t>
            </a:r>
            <a:r>
              <a:rPr lang="en" sz="1600"/>
              <a:t>-</a:t>
            </a:r>
            <a:r>
              <a:rPr lang="en" sz="1600"/>
              <a:t>1/4</a:t>
            </a:r>
            <a:r>
              <a:rPr lang="en" sz="1600"/>
              <a:t> - width: 25%;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</a:t>
            </a:r>
            <a:r>
              <a:rPr lang="en" sz="1600"/>
              <a:t>-full  - width: 100%;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600"/>
              <a:t>Viewport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</a:t>
            </a:r>
            <a:r>
              <a:rPr lang="en" sz="1600"/>
              <a:t>-screen - width: 100vw;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</a:t>
            </a:r>
            <a:r>
              <a:rPr lang="en" sz="1600"/>
              <a:t>-screen - height: 100hv;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Tailwind CSS: Width</a:t>
            </a:r>
            <a:r>
              <a:rPr lang="en" sz="1600"/>
              <a:t>                                      </a:t>
            </a:r>
            <a:r>
              <a:rPr lang="en" sz="16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Tailwind CSS: Height</a:t>
            </a:r>
            <a:endParaRPr sz="1600"/>
          </a:p>
        </p:txBody>
      </p:sp>
      <p:sp>
        <p:nvSpPr>
          <p:cNvPr id="223" name="Google Shape;223;p3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4" name="Google Shape;224;p37"/>
          <p:cNvGrpSpPr/>
          <p:nvPr/>
        </p:nvGrpSpPr>
        <p:grpSpPr>
          <a:xfrm rot="10800000">
            <a:off x="7557850" y="1607810"/>
            <a:ext cx="1104178" cy="1104176"/>
            <a:chOff x="4185575" y="3320360"/>
            <a:chExt cx="1104178" cy="1104176"/>
          </a:xfrm>
        </p:grpSpPr>
        <p:sp>
          <p:nvSpPr>
            <p:cNvPr id="225" name="Google Shape;225;p37"/>
            <p:cNvSpPr/>
            <p:nvPr/>
          </p:nvSpPr>
          <p:spPr>
            <a:xfrm>
              <a:off x="4185575" y="3421936"/>
              <a:ext cx="1002600" cy="100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7"/>
            <p:cNvSpPr/>
            <p:nvPr/>
          </p:nvSpPr>
          <p:spPr>
            <a:xfrm>
              <a:off x="4287153" y="332036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Colors</a:t>
            </a:r>
            <a:endParaRPr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311700" y="915600"/>
            <a:ext cx="7023900" cy="3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/>
              <a:t>Syntax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class=”bg-{color}-{shade}”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class=”text-{color}-{shade}”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class=”bg-black bg-white text-black text white” </a:t>
            </a:r>
            <a:endParaRPr b="1" sz="160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Tailwind CSS: Colors </a:t>
            </a:r>
            <a:r>
              <a:rPr lang="en" sz="1600"/>
              <a:t>              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600"/>
              <a:t>Accessibility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Color Contrast Checker</a:t>
            </a:r>
            <a:endParaRPr sz="1600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600"/>
              <a:t>                    </a:t>
            </a:r>
            <a:endParaRPr sz="1600"/>
          </a:p>
        </p:txBody>
      </p:sp>
      <p:sp>
        <p:nvSpPr>
          <p:cNvPr id="233" name="Google Shape;233;p3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4" name="Google Shape;234;p38"/>
          <p:cNvGrpSpPr/>
          <p:nvPr/>
        </p:nvGrpSpPr>
        <p:grpSpPr>
          <a:xfrm rot="10800000">
            <a:off x="7557850" y="1607810"/>
            <a:ext cx="1104178" cy="1104176"/>
            <a:chOff x="4185575" y="3320360"/>
            <a:chExt cx="1104178" cy="1104176"/>
          </a:xfrm>
        </p:grpSpPr>
        <p:sp>
          <p:nvSpPr>
            <p:cNvPr id="235" name="Google Shape;235;p38"/>
            <p:cNvSpPr/>
            <p:nvPr/>
          </p:nvSpPr>
          <p:spPr>
            <a:xfrm>
              <a:off x="4185575" y="3421936"/>
              <a:ext cx="1002600" cy="100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8"/>
            <p:cNvSpPr/>
            <p:nvPr/>
          </p:nvSpPr>
          <p:spPr>
            <a:xfrm>
              <a:off x="4287153" y="332036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Paddings &amp; Margins</a:t>
            </a:r>
            <a:endParaRPr/>
          </a:p>
        </p:txBody>
      </p:sp>
      <p:sp>
        <p:nvSpPr>
          <p:cNvPr id="242" name="Google Shape;242;p39"/>
          <p:cNvSpPr txBox="1"/>
          <p:nvPr>
            <p:ph idx="1" type="body"/>
          </p:nvPr>
        </p:nvSpPr>
        <p:spPr>
          <a:xfrm>
            <a:off x="311700" y="915600"/>
            <a:ext cx="7023900" cy="3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/>
              <a:t>Syntax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class=”p-{value}”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class=”m-{value}”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600" u="sng"/>
              <a:t>1 unit = 0.25rem;</a:t>
            </a:r>
            <a:endParaRPr b="1" sz="1600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 u="sng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Tailwind CSS: Padding</a:t>
            </a:r>
            <a:r>
              <a:rPr lang="en" sz="1600"/>
              <a:t>                                      </a:t>
            </a:r>
            <a:r>
              <a:rPr lang="en" sz="1600" u="sng">
                <a:solidFill>
                  <a:schemeClr val="hlink"/>
                </a:solidFill>
                <a:hlinkClick r:id="rId4"/>
              </a:rPr>
              <a:t>Tailwind CSS: Margin</a:t>
            </a:r>
            <a:endParaRPr sz="1600"/>
          </a:p>
        </p:txBody>
      </p:sp>
      <p:sp>
        <p:nvSpPr>
          <p:cNvPr id="243" name="Google Shape;243;p3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4" name="Google Shape;244;p39"/>
          <p:cNvGrpSpPr/>
          <p:nvPr/>
        </p:nvGrpSpPr>
        <p:grpSpPr>
          <a:xfrm rot="10800000">
            <a:off x="7557850" y="1607810"/>
            <a:ext cx="1104178" cy="1104176"/>
            <a:chOff x="4185575" y="3320360"/>
            <a:chExt cx="1104178" cy="1104176"/>
          </a:xfrm>
        </p:grpSpPr>
        <p:sp>
          <p:nvSpPr>
            <p:cNvPr id="245" name="Google Shape;245;p39"/>
            <p:cNvSpPr/>
            <p:nvPr/>
          </p:nvSpPr>
          <p:spPr>
            <a:xfrm>
              <a:off x="4185575" y="3421936"/>
              <a:ext cx="1002600" cy="100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9"/>
            <p:cNvSpPr/>
            <p:nvPr/>
          </p:nvSpPr>
          <p:spPr>
            <a:xfrm>
              <a:off x="4287153" y="332036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Responsive Design</a:t>
            </a:r>
            <a:endParaRPr/>
          </a:p>
        </p:txBody>
      </p:sp>
      <p:sp>
        <p:nvSpPr>
          <p:cNvPr id="252" name="Google Shape;252;p40"/>
          <p:cNvSpPr txBox="1"/>
          <p:nvPr>
            <p:ph idx="1" type="body"/>
          </p:nvPr>
        </p:nvSpPr>
        <p:spPr>
          <a:xfrm>
            <a:off x="311700" y="915600"/>
            <a:ext cx="7846800" cy="3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 u="sng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/>
          </a:p>
        </p:txBody>
      </p:sp>
      <p:sp>
        <p:nvSpPr>
          <p:cNvPr id="253" name="Google Shape;253;p4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4" name="Google Shape;254;p40" title="Screenshot 2025-09-18 at 17.07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75" y="1249225"/>
            <a:ext cx="8029926" cy="264505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0"/>
          <p:cNvSpPr txBox="1"/>
          <p:nvPr/>
        </p:nvSpPr>
        <p:spPr>
          <a:xfrm>
            <a:off x="340525" y="4490800"/>
            <a:ext cx="408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Assistant"/>
                <a:ea typeface="Assistant"/>
                <a:cs typeface="Assistant"/>
                <a:sym typeface="Assistant"/>
                <a:hlinkClick r:id="rId4"/>
              </a:rPr>
              <a:t>Tailwind CSS: Responsive Design</a:t>
            </a:r>
            <a:endParaRPr sz="1800" u="sng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Configuration</a:t>
            </a:r>
            <a:endParaRPr/>
          </a:p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Tailwind CSS: Configuration</a:t>
            </a:r>
            <a:endParaRPr/>
          </a:p>
        </p:txBody>
      </p:sp>
      <p:pic>
        <p:nvPicPr>
          <p:cNvPr id="262" name="Google Shape;262;p41" title="Screenshot 2025-09-18 at 17.13.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675" y="1014900"/>
            <a:ext cx="3341726" cy="297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2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Playground</a:t>
            </a:r>
            <a:endParaRPr/>
          </a:p>
        </p:txBody>
      </p:sp>
      <p:sp>
        <p:nvSpPr>
          <p:cNvPr id="268" name="Google Shape;268;p42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Playground</a:t>
            </a:r>
            <a:endParaRPr/>
          </a:p>
        </p:txBody>
      </p:sp>
      <p:pic>
        <p:nvPicPr>
          <p:cNvPr id="269" name="Google Shape;269;p42" title="Screenshot 2025-09-18 at 17.15.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425" y="1070238"/>
            <a:ext cx="8310799" cy="19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</a:t>
            </a:r>
            <a:endParaRPr/>
          </a:p>
        </p:txBody>
      </p:sp>
      <p:sp>
        <p:nvSpPr>
          <p:cNvPr id="275" name="Google Shape;275;p43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npm create vite@latest my-project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(creates react projet)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cd my-project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2286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npm install tailwindcss @tailwindcss/vite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(ins</a:t>
            </a:r>
            <a:r>
              <a:rPr lang="en"/>
              <a:t>t</a:t>
            </a:r>
            <a:r>
              <a:rPr lang="en"/>
              <a:t>alls tailwind dependencies)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4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Directives</a:t>
            </a:r>
            <a:endParaRPr/>
          </a:p>
        </p:txBody>
      </p:sp>
      <p:sp>
        <p:nvSpPr>
          <p:cNvPr id="281" name="Google Shape;281;p44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When installing tailwind into your project - </a:t>
            </a:r>
            <a:r>
              <a:rPr lang="en" sz="1400">
                <a:solidFill>
                  <a:srgbClr val="334155"/>
                </a:solidFill>
                <a:highlight>
                  <a:srgbClr val="FFFFFF"/>
                </a:highlight>
              </a:rPr>
              <a:t>add the </a:t>
            </a:r>
            <a:r>
              <a:rPr lang="en" sz="1400">
                <a:solidFill>
                  <a:srgbClr val="0F172A"/>
                </a:solidFill>
                <a:highlight>
                  <a:srgbClr val="FFFFFF"/>
                </a:highlight>
              </a:rPr>
              <a:t>@tailwind</a:t>
            </a:r>
            <a:r>
              <a:rPr lang="en" sz="1400">
                <a:solidFill>
                  <a:srgbClr val="334155"/>
                </a:solidFill>
                <a:highlight>
                  <a:srgbClr val="FFFFFF"/>
                </a:highlight>
              </a:rPr>
              <a:t> directives for each of tailwind layers to your main CSS file.</a:t>
            </a:r>
            <a:endParaRPr sz="1400">
              <a:solidFill>
                <a:srgbClr val="33415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714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sz="1400">
              <a:solidFill>
                <a:srgbClr val="33415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400"/>
              <a:t>@tailwind base; - starting point - it injects base styles - collection of CSS resets and sensible defaults - ensures consistent look across different browsers</a:t>
            </a:r>
            <a:endParaRPr sz="1400"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400"/>
              <a:t>@tailwind components; - tailwind component classes - empty by default</a:t>
            </a:r>
            <a:endParaRPr sz="1400"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400"/>
              <a:t>@tailwind utilities; - all the utility classes we talked about (bg-black, p-0, flex, text-sm)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Example of using components layer: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Tailwind CSS: Directives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82" name="Google Shape;282;p44" title="Screenshot 2025-09-18 at 17.24.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50" y="2875025"/>
            <a:ext cx="2653801" cy="10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tools</a:t>
            </a:r>
            <a:endParaRPr/>
          </a:p>
        </p:txBody>
      </p:sp>
      <p:sp>
        <p:nvSpPr>
          <p:cNvPr id="288" name="Google Shape;288;p45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95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Tailwind CSS IntelliSense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95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4"/>
              </a:rPr>
              <a:t>Tailwind Fold</a:t>
            </a:r>
            <a:endParaRPr sz="1950">
              <a:solidFill>
                <a:srgbClr val="61616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95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5"/>
              </a:rPr>
              <a:t>Tailwind Docs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Trick to improve IntelliSense in VSCode: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Navigate to VSCode settings &gt; Quick Suggestions &gt; Turn strings - from off to on</a:t>
            </a:r>
            <a:endParaRPr sz="1200"/>
          </a:p>
        </p:txBody>
      </p:sp>
      <p:pic>
        <p:nvPicPr>
          <p:cNvPr id="289" name="Google Shape;289;p45" title="Screenshot 2025-09-18 at 17.40.1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475" y="2930250"/>
            <a:ext cx="5089901" cy="125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